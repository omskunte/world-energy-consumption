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25" r:id="rId5"/>
    <p:sldId id="326" r:id="rId6"/>
    <p:sldId id="259" r:id="rId7"/>
    <p:sldId id="257" r:id="rId8"/>
    <p:sldId id="261" r:id="rId9"/>
    <p:sldId id="343" r:id="rId10"/>
    <p:sldId id="341" r:id="rId11"/>
    <p:sldId id="342" r:id="rId12"/>
    <p:sldId id="25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240" autoAdjust="0"/>
  </p:normalViewPr>
  <p:slideViewPr>
    <p:cSldViewPr snapToGrid="0">
      <p:cViewPr>
        <p:scale>
          <a:sx n="75" d="100"/>
          <a:sy n="75" d="100"/>
        </p:scale>
        <p:origin x="811" y="394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3/25/2025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3/25/2025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/>
          <a:lstStyle/>
          <a:p>
            <a:r>
              <a:rPr lang="en-US" dirty="0"/>
              <a:t>WORLD ENERGY CONSUMPTION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2133" y="5232401"/>
            <a:ext cx="3835400" cy="1371600"/>
          </a:xfrm>
        </p:spPr>
        <p:txBody>
          <a:bodyPr vert="horz" lIns="0" tIns="0" rIns="0" bIns="0" rtlCol="0" anchor="t">
            <a:noAutofit/>
          </a:bodyPr>
          <a:lstStyle/>
          <a:p>
            <a:pPr algn="l"/>
            <a:r>
              <a:rPr lang="en-US" sz="1800" b="1" dirty="0"/>
              <a:t>PRESENSED BY :</a:t>
            </a:r>
          </a:p>
          <a:p>
            <a:pPr algn="l"/>
            <a:r>
              <a:rPr lang="en-US" sz="1600" dirty="0"/>
              <a:t>Om </a:t>
            </a:r>
            <a:r>
              <a:rPr lang="en-US" sz="1600" dirty="0" err="1"/>
              <a:t>kunte</a:t>
            </a:r>
            <a:r>
              <a:rPr lang="en-US" sz="1600" dirty="0"/>
              <a:t> (cs6302)</a:t>
            </a:r>
          </a:p>
          <a:p>
            <a:pPr algn="l"/>
            <a:r>
              <a:rPr lang="en-US" sz="1600" dirty="0"/>
              <a:t>Mustaqeem shaikh (cs6311)</a:t>
            </a:r>
          </a:p>
          <a:p>
            <a:pPr algn="l"/>
            <a:r>
              <a:rPr lang="en-US" sz="1600" dirty="0"/>
              <a:t>Gaurav </a:t>
            </a:r>
            <a:r>
              <a:rPr lang="en-US" sz="1600" dirty="0" err="1"/>
              <a:t>gadekar</a:t>
            </a:r>
            <a:r>
              <a:rPr lang="en-US" sz="1600" dirty="0"/>
              <a:t> (cs6315)</a:t>
            </a:r>
          </a:p>
          <a:p>
            <a:pPr algn="l"/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BADFFA-3841-F5FA-7A97-17E7ED317202}"/>
              </a:ext>
            </a:extLst>
          </p:cNvPr>
          <p:cNvSpPr txBox="1"/>
          <p:nvPr/>
        </p:nvSpPr>
        <p:spPr>
          <a:xfrm>
            <a:off x="4529667" y="2170192"/>
            <a:ext cx="2929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TY  CSE  ‘ B ’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EB422-1287-FCEB-63CE-599FDC846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533" y="1171448"/>
            <a:ext cx="4114800" cy="528320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38CD2-9585-7E51-5359-D52935A77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2573867"/>
            <a:ext cx="4223173" cy="2379134"/>
          </a:xfrm>
        </p:spPr>
        <p:txBody>
          <a:bodyPr vert="horz" lIns="0" tIns="0" rIns="0" bIns="0" rtlCol="0" anchor="t">
            <a:noAutofit/>
          </a:bodyPr>
          <a:lstStyle/>
          <a:p>
            <a:pPr marL="0" indent="0" algn="just">
              <a:buNone/>
            </a:pPr>
            <a:r>
              <a:rPr lang="en-US" dirty="0"/>
              <a:t>This project aims to analyze global energy consumption data and identify patterns to optimize energy usage using machine learning techniques.</a:t>
            </a:r>
          </a:p>
          <a:p>
            <a:pPr algn="just"/>
            <a:endParaRPr lang="en-US" dirty="0"/>
          </a:p>
        </p:txBody>
      </p:sp>
      <p:pic>
        <p:nvPicPr>
          <p:cNvPr id="8" name="Picture Placeholder 7" descr="Pipette diffusing dyes in flasks">
            <a:extLst>
              <a:ext uri="{FF2B5EF4-FFF2-40B4-BE49-F238E27FC236}">
                <a16:creationId xmlns:a16="http://schemas.microsoft.com/office/drawing/2014/main" id="{9DA934D8-2609-4227-78DF-CF8F07A2F9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" b="97"/>
          <a:stretch/>
        </p:blipFill>
        <p:spPr>
          <a:xfrm>
            <a:off x="5687568" y="1435608"/>
            <a:ext cx="5897880" cy="3977640"/>
          </a:xfrm>
        </p:spPr>
      </p:pic>
    </p:spTree>
    <p:extLst>
      <p:ext uri="{BB962C8B-B14F-4D97-AF65-F5344CB8AC3E}">
        <p14:creationId xmlns:p14="http://schemas.microsoft.com/office/powerpoint/2010/main" val="2910866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38" y="2368296"/>
            <a:ext cx="5929038" cy="1087120"/>
          </a:xfrm>
          <a:noFill/>
        </p:spPr>
        <p:txBody>
          <a:bodyPr anchor="ctr" anchorCtr="0">
            <a:noAutofit/>
          </a:bodyPr>
          <a:lstStyle/>
          <a:p>
            <a:pPr algn="l"/>
            <a:r>
              <a:rPr lang="en-US" sz="4000" dirty="0"/>
              <a:t>PROBLEM OVERVIEW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438" y="3484033"/>
            <a:ext cx="10515600" cy="2505117"/>
          </a:xfrm>
          <a:noFill/>
        </p:spPr>
        <p:txBody>
          <a:bodyPr>
            <a:normAutofit fontScale="92500" lnSpcReduction="20000"/>
          </a:bodyPr>
          <a:lstStyle/>
          <a:p>
            <a:pPr algn="l">
              <a:buNone/>
            </a:pPr>
            <a:r>
              <a:rPr lang="en-US" sz="1800" b="1" dirty="0"/>
              <a:t>1. Increasing Energy Demand:</a:t>
            </a:r>
            <a:br>
              <a:rPr lang="en-US" sz="1800" dirty="0"/>
            </a:br>
            <a:r>
              <a:rPr lang="en-US" sz="1800" dirty="0"/>
              <a:t>With population growth and industrial expansion, global energy consumption is rising rapidly. Efficient energy management is crucial to meet future demands sustainably.</a:t>
            </a:r>
          </a:p>
          <a:p>
            <a:pPr algn="l"/>
            <a:r>
              <a:rPr lang="en-US" sz="1800" b="1" dirty="0"/>
              <a:t>2. High Energy Costs:</a:t>
            </a:r>
            <a:br>
              <a:rPr lang="en-US" sz="1800" dirty="0"/>
            </a:br>
            <a:r>
              <a:rPr lang="en-US" sz="1800" dirty="0"/>
              <a:t>Businesses and households face rising electricity costs. Understanding consumption patterns can help optimize usage, reduce waste, and lower expenses.</a:t>
            </a:r>
          </a:p>
          <a:p>
            <a:pPr algn="l">
              <a:buNone/>
            </a:pPr>
            <a:r>
              <a:rPr lang="en-US" sz="1900" b="1" dirty="0"/>
              <a:t>3. Lack of Data-Driven Decision Making:</a:t>
            </a:r>
            <a:br>
              <a:rPr lang="en-US" sz="1900" dirty="0"/>
            </a:br>
            <a:r>
              <a:rPr lang="en-US" sz="1900" dirty="0"/>
              <a:t>Most energy management decisions are made without real-time data analysis. Machine learning models can provide predictive insights to optimize energy consumption.</a:t>
            </a:r>
          </a:p>
          <a:p>
            <a:pPr algn="l"/>
            <a:r>
              <a:rPr lang="en-US" sz="1900" dirty="0"/>
              <a:t>Would you like me to update the PowerPoint with this expanded problem overview?</a:t>
            </a:r>
          </a:p>
          <a:p>
            <a:pPr algn="l"/>
            <a:endParaRPr lang="en-US" sz="1800" dirty="0"/>
          </a:p>
        </p:txBody>
      </p:sp>
      <p:pic>
        <p:nvPicPr>
          <p:cNvPr id="10" name="Picture Placeholder 9" descr="Close up of bubbles">
            <a:extLst>
              <a:ext uri="{FF2B5EF4-FFF2-40B4-BE49-F238E27FC236}">
                <a16:creationId xmlns:a16="http://schemas.microsoft.com/office/drawing/2014/main" id="{99058E17-80B3-F3F9-AF6A-0518C39D940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3" r="83"/>
          <a:stretch/>
        </p:blipFill>
        <p:spPr>
          <a:xfrm>
            <a:off x="0" y="0"/>
            <a:ext cx="12188952" cy="2368296"/>
          </a:xfrm>
        </p:spPr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  <a:noFill/>
        </p:spPr>
        <p:txBody>
          <a:bodyPr anchor="b" anchorCtr="0"/>
          <a:lstStyle/>
          <a:p>
            <a:r>
              <a:rPr lang="en-US" dirty="0"/>
              <a:t>SCOPE OF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733" y="3429000"/>
            <a:ext cx="10718800" cy="1278467"/>
          </a:xfrm>
          <a:noFill/>
        </p:spPr>
        <p:txBody>
          <a:bodyPr>
            <a:normAutofit/>
          </a:bodyPr>
          <a:lstStyle/>
          <a:p>
            <a:pPr algn="just"/>
            <a:r>
              <a:rPr lang="en-US" dirty="0"/>
              <a:t>This project focuses on analyzing energy consumption based on environmental factors, occupancy, and renewable energy contribution. Machine learning models will be used for prediction and optimization.</a:t>
            </a:r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  <a:noFill/>
        </p:spPr>
        <p:txBody>
          <a:bodyPr/>
          <a:lstStyle/>
          <a:p>
            <a:r>
              <a:rPr lang="en-US" dirty="0"/>
              <a:t>Benefits OF PROJECT</a:t>
            </a:r>
          </a:p>
        </p:txBody>
      </p:sp>
      <p:pic>
        <p:nvPicPr>
          <p:cNvPr id="16" name="Picture Placeholder 15" descr="Pipette over three glass jars">
            <a:extLst>
              <a:ext uri="{FF2B5EF4-FFF2-40B4-BE49-F238E27FC236}">
                <a16:creationId xmlns:a16="http://schemas.microsoft.com/office/drawing/2014/main" id="{363B2CE7-DE69-D368-9719-08D0C83ABC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98448" y="1828800"/>
            <a:ext cx="3200400" cy="32004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2269067"/>
            <a:ext cx="6217920" cy="3903133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dirty="0"/>
              <a:t>Improved energy efficiency</a:t>
            </a:r>
          </a:p>
          <a:p>
            <a:pPr marL="0" indent="0">
              <a:buNone/>
            </a:pPr>
            <a:r>
              <a:rPr lang="en-US" dirty="0"/>
              <a:t>Cost savings through optimized consumption</a:t>
            </a:r>
          </a:p>
          <a:p>
            <a:pPr marL="0" indent="0">
              <a:buNone/>
            </a:pPr>
            <a:r>
              <a:rPr lang="en-US" dirty="0"/>
              <a:t>Better integration of renewable energy sources</a:t>
            </a:r>
          </a:p>
          <a:p>
            <a:pPr marL="0" indent="0">
              <a:buNone/>
            </a:pPr>
            <a:r>
              <a:rPr lang="en-US" dirty="0"/>
              <a:t>Reduced environmental impact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26C4-74A1-A013-E282-D8D72AC0D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COLLECTION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B1476E-13DD-A90C-0080-252A7E94B02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200400" cy="3200400"/>
          </a:xfrm>
        </p:spPr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187CE-5C9F-41DA-2B73-4021539F4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2032000"/>
            <a:ext cx="6217920" cy="414020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/>
              <a:t>The dataset includes timestamped energy consumption data, environmental conditions, occupancy levels, and operational status of HVAC and lighting systems.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057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E99F4-BE9E-5B25-57D4-9F96B50A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9" y="900007"/>
            <a:ext cx="8010483" cy="609600"/>
          </a:xfrm>
        </p:spPr>
        <p:txBody>
          <a:bodyPr/>
          <a:lstStyle/>
          <a:p>
            <a:r>
              <a:rPr lang="en-IN" dirty="0"/>
              <a:t>INSIGHT OF DATA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C6F962-A569-0BC6-5E64-A2637F6912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11667"/>
            <a:ext cx="2599267" cy="2595881"/>
          </a:xfrm>
        </p:spPr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46D68-945D-49D6-1B89-4547F0519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599" y="1828800"/>
            <a:ext cx="8466667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Energy consumption is highly correlated with temperature (+0.70), indicating heating/cooling demand.</a:t>
            </a:r>
          </a:p>
          <a:p>
            <a:pPr marL="0" indent="0">
              <a:buNone/>
            </a:pPr>
            <a:r>
              <a:rPr lang="en-US" dirty="0"/>
              <a:t>Occupancy has a weaker correlation (+0.19), meaning energy usage isn't solely dependent on the number of people.</a:t>
            </a:r>
          </a:p>
          <a:p>
            <a:pPr marL="0" indent="0">
              <a:buNone/>
            </a:pPr>
            <a:r>
              <a:rPr lang="en-US" dirty="0"/>
              <a:t>Renewable energy has a slight positive effect (+0.08), suggesting further integration could help efficiency.</a:t>
            </a:r>
          </a:p>
          <a:p>
            <a:pPr marL="0" indent="0">
              <a:buNone/>
            </a:pPr>
            <a:r>
              <a:rPr lang="en-US" dirty="0"/>
              <a:t>Humidity and building size have minimal impact on energy consumption.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694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CFCDE-9DAE-0CA5-3C95-481ABAF0C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C28EC-9FAE-0272-21B8-2F09C9CE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120" y="102790"/>
            <a:ext cx="10172550" cy="675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33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{6E8F6E7F-C2F7-4624-80EC-4273CCEBEB37}tf67061901_win32</Template>
  <TotalTime>38</TotalTime>
  <Words>305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Courier New</vt:lpstr>
      <vt:lpstr>Daytona Condensed Light</vt:lpstr>
      <vt:lpstr>Posterama</vt:lpstr>
      <vt:lpstr>Custom</vt:lpstr>
      <vt:lpstr>WORLD ENERGY CONSUMPTION</vt:lpstr>
      <vt:lpstr>INTRODUCTION</vt:lpstr>
      <vt:lpstr>PROBLEM OVERVIEW</vt:lpstr>
      <vt:lpstr>SCOPE OF PROJECT</vt:lpstr>
      <vt:lpstr>Benefits OF PROJECT</vt:lpstr>
      <vt:lpstr>DATA COLLECTION </vt:lpstr>
      <vt:lpstr>INSIGHT OF DATA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Shaikh Mustaqeem</dc:creator>
  <cp:lastModifiedBy>Shaikh Mustaqeem</cp:lastModifiedBy>
  <cp:revision>2</cp:revision>
  <dcterms:created xsi:type="dcterms:W3CDTF">2025-03-25T06:18:21Z</dcterms:created>
  <dcterms:modified xsi:type="dcterms:W3CDTF">2025-03-25T06:57:17Z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